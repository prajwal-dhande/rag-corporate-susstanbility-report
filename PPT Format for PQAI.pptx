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sldIdLst>
    <p:sldId id="278" r:id="rId4"/>
    <p:sldId id="259" r:id="rId5"/>
    <p:sldId id="264" r:id="rId6"/>
    <p:sldId id="290" r:id="rId7"/>
    <p:sldId id="295" r:id="rId8"/>
    <p:sldId id="270" r:id="rId9"/>
    <p:sldId id="302" r:id="rId10"/>
    <p:sldId id="303" r:id="rId11"/>
    <p:sldId id="304" r:id="rId12"/>
    <p:sldId id="298" r:id="rId13"/>
    <p:sldId id="299" r:id="rId14"/>
    <p:sldId id="272" r:id="rId15"/>
    <p:sldId id="301" r:id="rId16"/>
    <p:sldId id="305" r:id="rId17"/>
    <p:sldId id="300" r:id="rId18"/>
    <p:sldId id="276" r:id="rId19"/>
    <p:sldId id="293" r:id="rId20"/>
    <p:sldId id="294" r:id="rId21"/>
    <p:sldId id="274" r:id="rId22"/>
    <p:sldId id="307" r:id="rId23"/>
  </p:sldIdLst>
  <p:sldSz cx="12192000" cy="6858000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A7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6" d="100"/>
          <a:sy n="56" d="100"/>
        </p:scale>
        <p:origin x="97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 indent="-228600"/>
            <a:r>
              <a:rPr lang="en-US" altLang="en-US" dirty="0"/>
              <a:t>Second level</a:t>
            </a:r>
          </a:p>
          <a:p>
            <a:pPr lvl="2" indent="-228600"/>
            <a:r>
              <a:rPr lang="en-US" altLang="en-US" dirty="0"/>
              <a:t>Third level</a:t>
            </a:r>
          </a:p>
          <a:p>
            <a:pPr lvl="3" indent="-228600"/>
            <a:r>
              <a:rPr lang="en-US" altLang="en-US" dirty="0"/>
              <a:t>Fourth level</a:t>
            </a:r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 indent="-228600"/>
            <a:r>
              <a:rPr lang="en-US" altLang="en-US" dirty="0"/>
              <a:t>Second level</a:t>
            </a:r>
          </a:p>
          <a:p>
            <a:pPr lvl="2" indent="-228600"/>
            <a:r>
              <a:rPr lang="en-US" altLang="en-US" dirty="0"/>
              <a:t>Third level</a:t>
            </a:r>
          </a:p>
          <a:p>
            <a:pPr lvl="3" indent="-228600"/>
            <a:r>
              <a:rPr lang="en-US" altLang="en-US" dirty="0"/>
              <a:t>Fourth level</a:t>
            </a:r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 indent="-228600"/>
            <a:r>
              <a:rPr lang="en-US" altLang="en-US" dirty="0"/>
              <a:t>Second level</a:t>
            </a:r>
          </a:p>
          <a:p>
            <a:pPr lvl="2" indent="-228600"/>
            <a:r>
              <a:rPr lang="en-US" altLang="en-US" dirty="0"/>
              <a:t>Third level</a:t>
            </a:r>
          </a:p>
          <a:p>
            <a:pPr lvl="3" indent="-228600"/>
            <a:r>
              <a:rPr lang="en-US" altLang="en-US" dirty="0"/>
              <a:t>Fourth level</a:t>
            </a:r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05-10-2026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3077" name="Rectangle 5"/>
          <p:cNvSpPr txBox="1"/>
          <p:nvPr/>
        </p:nvSpPr>
        <p:spPr>
          <a:xfrm>
            <a:off x="1981200" y="2693988"/>
            <a:ext cx="8229600" cy="425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dirty="0">
                <a:solidFill>
                  <a:srgbClr val="0070C0"/>
                </a:solidFill>
                <a:latin typeface="Arial Black" panose="020B0A04020102020204" pitchFamily="34" charset="0"/>
                <a:ea typeface="Aharoni" pitchFamily="2" charset="-79"/>
              </a:rPr>
              <a:t>&lt; Project Title &gt; </a:t>
            </a:r>
            <a:endParaRPr lang="en-US" altLang="en-US" sz="2400" b="1" i="1" u="sng" dirty="0">
              <a:solidFill>
                <a:srgbClr val="0070C0"/>
              </a:solidFill>
              <a:latin typeface="Castellar" panose="020A0402060406010301" pitchFamily="18" charset="0"/>
              <a:ea typeface="Arial" panose="020B0604020202020204" pitchFamily="34" charset="0"/>
            </a:endParaRPr>
          </a:p>
        </p:txBody>
      </p:sp>
      <p:sp>
        <p:nvSpPr>
          <p:cNvPr id="3079" name="Rectangle 5"/>
          <p:cNvSpPr txBox="1"/>
          <p:nvPr/>
        </p:nvSpPr>
        <p:spPr>
          <a:xfrm>
            <a:off x="1981200" y="2086610"/>
            <a:ext cx="8229600" cy="425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dirty="0">
                <a:latin typeface="Times New Roman" panose="02020603050405020304" pitchFamily="18" charset="0"/>
              </a:rPr>
              <a:t>On</a:t>
            </a:r>
            <a:endParaRPr lang="en-US" altLang="en-US" sz="2400" b="1" i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081" name="Rectangle 8"/>
          <p:cNvSpPr/>
          <p:nvPr/>
        </p:nvSpPr>
        <p:spPr>
          <a:xfrm>
            <a:off x="0" y="17145"/>
            <a:ext cx="12012613" cy="1537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marL="365125" lvl="1" indent="-285750" algn="ctr" defTabSz="914400" eaLnBrk="1" hangingPunct="1">
              <a:spcBef>
                <a:spcPts val="500"/>
              </a:spcBef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altLang="en-US" sz="2300" b="1" dirty="0">
                <a:solidFill>
                  <a:srgbClr val="AB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G H RAISONI COLLEGE OF ENGINEERING AND MANAGEMENT</a:t>
            </a:r>
            <a:r>
              <a:rPr lang="en-US" altLang="en-US" sz="2000" b="1" dirty="0">
                <a:solidFill>
                  <a:srgbClr val="05A724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en-US" sz="2000" b="1" dirty="0">
                <a:solidFill>
                  <a:srgbClr val="AB0000"/>
                </a:solidFill>
                <a:latin typeface="Times New Roman" panose="02020603050405020304" pitchFamily="18" charset="0"/>
              </a:rPr>
              <a:t>                                                                                 </a:t>
            </a:r>
            <a:endParaRPr lang="en-US" altLang="en-US" sz="1400" b="1" dirty="0">
              <a:solidFill>
                <a:srgbClr val="AB0000"/>
              </a:solidFill>
              <a:latin typeface="Times New Roman" panose="02020603050405020304" pitchFamily="18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sz="1400" dirty="0">
                <a:latin typeface="Calibri" panose="020F0502020204030204" pitchFamily="34" charset="0"/>
              </a:rPr>
              <a:t>(Approved by AICTE, New Delhi and Recognized by DTE, Maharashtra) </a:t>
            </a:r>
            <a:endParaRPr lang="en-US" sz="1100" dirty="0">
              <a:latin typeface="Calibri" panose="020F0502020204030204" pitchFamily="34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</a:rPr>
              <a:t>   An Autonomous Institute </a:t>
            </a:r>
            <a:r>
              <a:rPr lang="en-US" sz="1400" dirty="0">
                <a:latin typeface="Calibri" panose="020F0502020204030204" pitchFamily="34" charset="0"/>
              </a:rPr>
              <a:t>Affiliated to Rashtrasant Tukadoji Maharaj Nagpur University, Nagpur</a:t>
            </a:r>
            <a:endParaRPr lang="en-US" sz="1100" dirty="0">
              <a:latin typeface="Calibri" panose="020F0502020204030204" pitchFamily="34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</a:rPr>
              <a:t>Accredited by NAAC with A+ Grade</a:t>
            </a: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sz="2000" b="1" dirty="0">
                <a:latin typeface="Times New Roman" panose="02020603050405020304" pitchFamily="18" charset="0"/>
              </a:rPr>
              <a:t>Department of Mechanical Engineering</a:t>
            </a:r>
            <a:endParaRPr lang="en-US" altLang="en-US" sz="2000" dirty="0">
              <a:solidFill>
                <a:srgbClr val="C00000"/>
              </a:solidFill>
              <a:latin typeface="Arial Black" panose="020B0A040201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pic>
        <p:nvPicPr>
          <p:cNvPr id="13" name="Picture 12" descr="C:\Users\Roshan_Dir_SP\AppData\Local\Packages\Microsoft.Windows.Photos_8wekyb3d8bbwe\TempState\ShareServiceTempFolder\GHRCEM Nagpur.jpe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51"/>
            <a:ext cx="2331720" cy="1506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6521" y="47151"/>
            <a:ext cx="1874520" cy="90186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8"/>
          <p:cNvSpPr txBox="1"/>
          <p:nvPr/>
        </p:nvSpPr>
        <p:spPr>
          <a:xfrm>
            <a:off x="1567656" y="1682750"/>
            <a:ext cx="9056688" cy="4247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altLang="zh-CN"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SimSun" panose="02010600030101010101" pitchFamily="2" charset="-122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Project</a:t>
            </a:r>
            <a:r>
              <a:rPr lang="en-US"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 Quality Assurance Initiative</a:t>
            </a:r>
            <a:r>
              <a:rPr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  20</a:t>
            </a:r>
            <a:r>
              <a:rPr lang="en-US"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25-</a:t>
            </a:r>
            <a:r>
              <a:rPr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2</a:t>
            </a:r>
            <a:r>
              <a:rPr lang="en-US"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6</a:t>
            </a:r>
            <a:r>
              <a:rPr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 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6FCC1D6-6ABD-0E34-304D-8E8FBF2E8538}"/>
              </a:ext>
            </a:extLst>
          </p:cNvPr>
          <p:cNvSpPr txBox="1"/>
          <p:nvPr/>
        </p:nvSpPr>
        <p:spPr>
          <a:xfrm>
            <a:off x="1169988" y="3119438"/>
            <a:ext cx="10031413" cy="3302000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kumimoji="0" lang="en-US" sz="2600" b="1" u="sng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</a:t>
            </a:r>
            <a:r>
              <a:rPr kumimoji="0" lang="en-US" sz="45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	                                 </a:t>
            </a:r>
            <a:r>
              <a:rPr kumimoji="0" lang="en-US" sz="45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Co-Guide: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    </a:t>
            </a:r>
            <a:r>
              <a:rPr kumimoji="0" lang="en-US" sz="45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Name of Guide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		                        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45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Name of Co-Guide </a:t>
            </a:r>
            <a:endParaRPr kumimoji="0" lang="en-US" sz="4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defRPr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Designation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kumimoji="0" lang="en-US" sz="4500" b="1" i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Name of </a:t>
            </a:r>
            <a:r>
              <a:rPr kumimoji="0" lang="en-US" sz="4500" b="1" u="sng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Projectees</a:t>
            </a:r>
            <a:endParaRPr kumimoji="0" lang="en-US" sz="4500" b="1" u="sng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kumimoji="0" lang="en-US" sz="4500" b="1" u="sng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4500" b="1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Projectee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# 1                      </a:t>
            </a:r>
            <a:r>
              <a:rPr kumimoji="0" lang="en-US" sz="4500" b="1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Projectee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# 2                   </a:t>
            </a:r>
            <a:r>
              <a:rPr kumimoji="0" lang="en-US" sz="4500" b="1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Projectee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# 3</a:t>
            </a: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</a:t>
            </a:r>
            <a:r>
              <a:rPr kumimoji="0" lang="en-US" sz="4500" b="1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Projectee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# 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</a:t>
            </a:r>
            <a:r>
              <a:rPr kumimoji="0" lang="en-US" sz="4500" b="1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Projectee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# 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     </a:t>
            </a:r>
            <a:r>
              <a:rPr lang="en-US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Projectee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6</a:t>
            </a:r>
            <a:endParaRPr kumimoji="0" lang="en-US" sz="4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lang="en-US" sz="2600" b="1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marR="0" indent="-27432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tabLst>
                <a:tab pos="2776538" algn="l"/>
              </a:tabLst>
              <a:defRPr/>
            </a:pPr>
            <a:r>
              <a:rPr kumimoji="0" lang="en-US" sz="4500" b="1" kern="1200" cap="none" spc="0" normalizeH="0" baseline="0" noProof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Session 2026-2027</a:t>
            </a:r>
            <a:endParaRPr kumimoji="0" lang="en-US" sz="26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Title 1"/>
          <p:cNvSpPr txBox="1"/>
          <p:nvPr/>
        </p:nvSpPr>
        <p:spPr bwMode="auto">
          <a:xfrm>
            <a:off x="0" y="-2032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Contents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10" name="Content Placeholder 2"/>
          <p:cNvSpPr txBox="1"/>
          <p:nvPr/>
        </p:nvSpPr>
        <p:spPr bwMode="auto">
          <a:xfrm>
            <a:off x="428625" y="677863"/>
            <a:ext cx="10445750" cy="50720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Introduction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Literature Survey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Problem Statement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Project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Methodology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Implementation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Work done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Innovative work (If any)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Results &amp; Discussion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Conclusion &amp; Future Scope 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Publication / Presentation / Project Competition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Cost Estimation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5122" name="TextBox 1"/>
          <p:cNvSpPr txBox="1"/>
          <p:nvPr/>
        </p:nvSpPr>
        <p:spPr>
          <a:xfrm>
            <a:off x="850265" y="1828164"/>
            <a:ext cx="7159625" cy="3698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Introduction / background about the project 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Title 1"/>
          <p:cNvSpPr txBox="1"/>
          <p:nvPr/>
        </p:nvSpPr>
        <p:spPr bwMode="auto">
          <a:xfrm>
            <a:off x="0" y="-182563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161321"/>
              </p:ext>
            </p:extLst>
          </p:nvPr>
        </p:nvGraphicFramePr>
        <p:xfrm>
          <a:off x="0" y="822325"/>
          <a:ext cx="12191999" cy="51386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49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0317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Sr. No.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Paper</a:t>
                      </a:r>
                      <a:r>
                        <a:rPr lang="en-US" sz="1800" baseline="0" dirty="0"/>
                        <a:t> Title and its Author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Details of Publication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Findings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Design and Fabrication of Waste Collecting Machine</a:t>
                      </a:r>
                    </a:p>
                    <a:p>
                      <a:pPr algn="ctr"/>
                      <a:r>
                        <a:rPr lang="en-IN" dirty="0" err="1"/>
                        <a:t>Brijesh</a:t>
                      </a:r>
                      <a:r>
                        <a:rPr lang="en-IN" dirty="0"/>
                        <a:t> K J, </a:t>
                      </a:r>
                      <a:r>
                        <a:rPr lang="en-IN" dirty="0" err="1"/>
                        <a:t>Karthik</a:t>
                      </a:r>
                      <a:r>
                        <a:rPr lang="en-IN" dirty="0"/>
                        <a:t> P, </a:t>
                      </a:r>
                      <a:r>
                        <a:rPr lang="en-IN" dirty="0" err="1"/>
                        <a:t>Adarsh</a:t>
                      </a:r>
                      <a:r>
                        <a:rPr lang="en-IN" dirty="0"/>
                        <a:t> S B, </a:t>
                      </a:r>
                      <a:r>
                        <a:rPr lang="en-IN" dirty="0" err="1"/>
                        <a:t>Githin</a:t>
                      </a:r>
                      <a:r>
                        <a:rPr lang="en-IN" dirty="0"/>
                        <a:t> V, Kevin Xavier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0743"/>
              </p:ext>
            </p:extLst>
          </p:nvPr>
        </p:nvGraphicFramePr>
        <p:xfrm>
          <a:off x="0" y="822325"/>
          <a:ext cx="12191999" cy="455930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49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0317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Sr. No.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Paper</a:t>
                      </a:r>
                      <a:r>
                        <a:rPr lang="en-US" sz="1800" baseline="0" dirty="0"/>
                        <a:t> Title and its Author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Details of Publication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Findings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56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865505" y="1104900"/>
            <a:ext cx="715962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Problem identified and its justification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9218" name="TextBox 7"/>
          <p:cNvSpPr txBox="1"/>
          <p:nvPr/>
        </p:nvSpPr>
        <p:spPr>
          <a:xfrm>
            <a:off x="880745" y="1014413"/>
            <a:ext cx="7159625" cy="2031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Objective of the Project</a:t>
            </a:r>
          </a:p>
          <a:p>
            <a:pPr eaLnBrk="0" hangingPunct="0"/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eaLnBrk="0" hangingPunct="0"/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24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505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759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Innovative Work  ( if any)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0785" y="1288733"/>
            <a:ext cx="7159625" cy="2252924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0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Innovative Work  </a:t>
            </a:r>
          </a:p>
          <a:p>
            <a:pPr lvl="0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fontAlgn="auto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lvl="0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</a:p>
          <a:p>
            <a:pPr lvl="0" fontAlgn="auto">
              <a:lnSpc>
                <a:spcPct val="150000"/>
              </a:lnSpc>
              <a:spcAft>
                <a:spcPts val="0"/>
              </a:spcAft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85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0785" y="1288733"/>
            <a:ext cx="7159625" cy="1006429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0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  <a:p>
            <a:pPr lvl="0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fontAlgn="auto">
              <a:lnSpc>
                <a:spcPct val="150000"/>
              </a:lnSpc>
              <a:spcAft>
                <a:spcPts val="0"/>
              </a:spcAft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802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3145" y="1196976"/>
            <a:ext cx="7159625" cy="36933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0" eaLnBrk="0" hangingPunct="0"/>
            <a:r>
              <a:rPr lang="en-US" dirty="0">
                <a:latin typeface="Times New Roman" panose="02020603050405020304" pitchFamily="18" charset="0"/>
              </a:rPr>
              <a:t>Result &amp; Discussion </a:t>
            </a:r>
            <a:r>
              <a:rPr lang="en-US" altLang="en-US" dirty="0">
                <a:latin typeface="Times New Roman" panose="02020603050405020304" pitchFamily="18" charset="0"/>
              </a:rPr>
              <a:t>of the project 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3585" y="968376"/>
            <a:ext cx="7159625" cy="2031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0" eaLnBrk="0" hangingPunct="0"/>
            <a:r>
              <a:rPr lang="en-US" altLang="en-US" dirty="0">
                <a:latin typeface="Times New Roman" panose="02020603050405020304" pitchFamily="18" charset="0"/>
              </a:rPr>
              <a:t>Conclusion of Work of the project till date</a:t>
            </a:r>
          </a:p>
          <a:p>
            <a:pPr lvl="0" eaLnBrk="0" hangingPunct="0"/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eaLnBrk="0" hangingPunct="0"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lvl="0" indent="-342900" eaLnBrk="0" hangingPunct="0"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</a:p>
          <a:p>
            <a:pPr marL="342900" lvl="0" indent="-342900" eaLnBrk="0" hangingPunct="0"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lvl="0" indent="-342900" eaLnBrk="0" hangingPunct="0"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lvl="0" indent="-342900" eaLnBrk="0" hangingPunct="0"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3585" y="3398600"/>
            <a:ext cx="7159625" cy="2031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0" eaLnBrk="0" hangingPunct="0"/>
            <a:r>
              <a:rPr lang="en-US" altLang="en-US" dirty="0">
                <a:latin typeface="Times New Roman" panose="02020603050405020304" pitchFamily="18" charset="0"/>
              </a:rPr>
              <a:t>Future Scope of the project till date</a:t>
            </a:r>
          </a:p>
          <a:p>
            <a:pPr lvl="0" eaLnBrk="0" hangingPunct="0"/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eaLnBrk="0" hangingPunct="0"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lvl="0" indent="-342900" eaLnBrk="0" hangingPunct="0"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</a:p>
          <a:p>
            <a:pPr marL="342900" lvl="0" indent="-342900" eaLnBrk="0" hangingPunct="0"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lvl="0" indent="-342900" eaLnBrk="0" hangingPunct="0"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lvl="0" indent="-342900" eaLnBrk="0" hangingPunct="0"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6091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Publication / Presentation / Project Competition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9" name="TextBox 7"/>
          <p:cNvSpPr txBox="1"/>
          <p:nvPr/>
        </p:nvSpPr>
        <p:spPr>
          <a:xfrm>
            <a:off x="575945" y="1395413"/>
            <a:ext cx="920432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Scan copy of first page of published paper/Certificate scan copy also achievement if any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304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0242" name="Title 1"/>
          <p:cNvSpPr txBox="1"/>
          <p:nvPr/>
        </p:nvSpPr>
        <p:spPr>
          <a:xfrm>
            <a:off x="2476500" y="409892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Cost Estimation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481201"/>
              </p:ext>
            </p:extLst>
          </p:nvPr>
        </p:nvGraphicFramePr>
        <p:xfrm>
          <a:off x="899159" y="929640"/>
          <a:ext cx="10713721" cy="5303522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883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7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781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Sr. No.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Items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Quantity 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Amount In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(Rs.)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3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 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 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 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 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81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 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 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 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 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81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 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 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 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 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3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 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 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 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 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81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 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 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 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 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781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 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 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 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 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7818">
                <a:tc gridSpan="3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Total Amount (Rs.)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 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258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2290" name="TextBox 7"/>
          <p:cNvSpPr txBox="1"/>
          <p:nvPr/>
        </p:nvSpPr>
        <p:spPr>
          <a:xfrm>
            <a:off x="514985" y="831533"/>
            <a:ext cx="7159625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List of papers/books/websites etc refer for project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14985" y="1389986"/>
            <a:ext cx="111452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Prakas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(2011). Feedback and optimal sensitivity: Model reference transformations, multiplicative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seminorms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approximate inverses.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Automatic Control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26(2): 301–320.</a:t>
            </a:r>
          </a:p>
        </p:txBody>
      </p:sp>
      <p:sp>
        <p:nvSpPr>
          <p:cNvPr id="3" name="Rectangle 2"/>
          <p:cNvSpPr/>
          <p:nvPr/>
        </p:nvSpPr>
        <p:spPr>
          <a:xfrm>
            <a:off x="514984" y="2617262"/>
            <a:ext cx="102444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</a:rPr>
              <a:t>Text books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Myers, D. G. (2007). </a:t>
            </a:r>
            <a:r>
              <a:rPr lang="en-IN" i="1" dirty="0">
                <a:latin typeface="Times New Roman" panose="02020603050405020304" pitchFamily="18" charset="0"/>
              </a:rPr>
              <a:t>Psychology </a:t>
            </a:r>
            <a:r>
              <a:rPr lang="en-IN" dirty="0">
                <a:latin typeface="Times New Roman" panose="02020603050405020304" pitchFamily="18" charset="0"/>
              </a:rPr>
              <a:t>(1st Canadian ed.). Worth: New York.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14984" y="3581108"/>
            <a:ext cx="112655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</a:rPr>
              <a:t>Conference proceedings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Payne, D.B. and </a:t>
            </a:r>
            <a:r>
              <a:rPr lang="en-IN" dirty="0" err="1">
                <a:latin typeface="Times New Roman" panose="02020603050405020304" pitchFamily="18" charset="0"/>
              </a:rPr>
              <a:t>Gunhold</a:t>
            </a:r>
            <a:r>
              <a:rPr lang="en-IN" dirty="0">
                <a:latin typeface="Times New Roman" panose="02020603050405020304" pitchFamily="18" charset="0"/>
              </a:rPr>
              <a:t>, H.G. (1986). Digital sundials and broadband technology, In </a:t>
            </a:r>
            <a:r>
              <a:rPr lang="en-IN" i="1" dirty="0">
                <a:latin typeface="Times New Roman" panose="02020603050405020304" pitchFamily="18" charset="0"/>
              </a:rPr>
              <a:t>Proc. IOOC-ECOC, </a:t>
            </a:r>
            <a:r>
              <a:rPr lang="en-IN" dirty="0">
                <a:latin typeface="Times New Roman" panose="02020603050405020304" pitchFamily="18" charset="0"/>
              </a:rPr>
              <a:t>1986, pp. 557-998.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514984" y="4819968"/>
            <a:ext cx="11463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</a:rPr>
              <a:t>Reports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Milton, M and Robert, L. (2004). Atmospheric carbon emission through genetic algorithm, </a:t>
            </a:r>
            <a:r>
              <a:rPr lang="en-IN" i="1" dirty="0">
                <a:latin typeface="Times New Roman" panose="02020603050405020304" pitchFamily="18" charset="0"/>
              </a:rPr>
              <a:t>Environment and Technical Report No.3.</a:t>
            </a:r>
            <a:r>
              <a:rPr lang="en-IN" dirty="0">
                <a:latin typeface="Times New Roman" panose="02020603050405020304" pitchFamily="18" charset="0"/>
              </a:rPr>
              <a:t>, Indian Meteorological Department., New Delhi.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2290" name="TextBox 7"/>
          <p:cNvSpPr txBox="1"/>
          <p:nvPr/>
        </p:nvSpPr>
        <p:spPr>
          <a:xfrm>
            <a:off x="514985" y="831533"/>
            <a:ext cx="7159625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List of papers/books/websites etc refer for project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982" y="1393190"/>
            <a:ext cx="11463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</a:rPr>
              <a:t>Online journals with a DOI (Digital Object Identifier)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Krebs, D.L. and Denton, K. (2006). Explanatory limitations of cognitive developmental approaches to morality. </a:t>
            </a:r>
            <a:r>
              <a:rPr lang="en-IN" i="1" dirty="0">
                <a:latin typeface="Times New Roman" panose="02020603050405020304" pitchFamily="18" charset="0"/>
              </a:rPr>
              <a:t>Psychological Review, </a:t>
            </a:r>
            <a:r>
              <a:rPr lang="en-IN" dirty="0">
                <a:latin typeface="Times New Roman" panose="02020603050405020304" pitchFamily="18" charset="0"/>
              </a:rPr>
              <a:t>113(3): 672- 675. </a:t>
            </a:r>
            <a:r>
              <a:rPr lang="en-IN" dirty="0" err="1">
                <a:latin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</a:rPr>
              <a:t>: 10.1037/0033-295X.113.3.672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514982" y="2719984"/>
            <a:ext cx="11463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Online journals without a DOI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Vicki, G.T., </a:t>
            </a: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Thomae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, M., Cullen, A. and Fernandez, H. (2007). </a:t>
            </a: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Modeling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 the hydrological impact on Tropical Forests. </a:t>
            </a:r>
            <a:r>
              <a:rPr lang="en-I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Forest Ecology,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13(10): 122-132. Retrieved from </a:t>
            </a:r>
            <a:r>
              <a:rPr lang="en-IN" dirty="0">
                <a:solidFill>
                  <a:srgbClr val="0000FF"/>
                </a:solidFill>
                <a:latin typeface="Times New Roman" panose="02020603050405020304" pitchFamily="18" charset="0"/>
              </a:rPr>
              <a:t>http://www.uiowa.edu/~grpproc/crisp/crisp.html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514981" y="4025525"/>
            <a:ext cx="114636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Online abstracts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Perilloux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, C. and Buss, D.M. (2008). Human relationships: Costs experienced and coping strategies deployed. </a:t>
            </a:r>
            <a:r>
              <a:rPr lang="en-I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Evolutionary Psychology,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6(1): 164-181. Abstract retrieved from </a:t>
            </a:r>
            <a:r>
              <a:rPr lang="en-IN" dirty="0">
                <a:solidFill>
                  <a:srgbClr val="0000FF"/>
                </a:solidFill>
                <a:latin typeface="Times New Roman" panose="02020603050405020304" pitchFamily="18" charset="0"/>
              </a:rPr>
              <a:t>http://www.epjournal.net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69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2290" name="TextBox 7"/>
          <p:cNvSpPr txBox="1"/>
          <p:nvPr/>
        </p:nvSpPr>
        <p:spPr>
          <a:xfrm>
            <a:off x="514985" y="831533"/>
            <a:ext cx="7159625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List of papers/books/websites etc refer for project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14984" y="1393190"/>
            <a:ext cx="111740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Online books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Perfect, T.J. and Schwartz, B. L. (Eds.) (2002). </a:t>
            </a:r>
            <a:r>
              <a:rPr lang="en-I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Applied metacognition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. Retrieved from </a:t>
            </a:r>
            <a:r>
              <a:rPr lang="en-IN" dirty="0">
                <a:solidFill>
                  <a:srgbClr val="0000FF"/>
                </a:solidFill>
                <a:latin typeface="Times New Roman" panose="02020603050405020304" pitchFamily="18" charset="0"/>
              </a:rPr>
              <a:t>http://www.questia.com/read/107598848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(--If DOI is available, use the DOI instead of a URL)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514984" y="2508290"/>
            <a:ext cx="11174095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</a:rPr>
              <a:t>Chapters from a book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Krebs, D.L. and Denton, K. (1997). Social illusions and self deception: The evolution of biases in person perception. In J. A. Simpson &amp; D. T. </a:t>
            </a:r>
            <a:r>
              <a:rPr lang="en-IN" dirty="0" err="1">
                <a:latin typeface="Times New Roman" panose="02020603050405020304" pitchFamily="18" charset="0"/>
              </a:rPr>
              <a:t>Kenrick</a:t>
            </a:r>
            <a:r>
              <a:rPr lang="en-IN" dirty="0">
                <a:latin typeface="Times New Roman" panose="02020603050405020304" pitchFamily="18" charset="0"/>
              </a:rPr>
              <a:t> (Eds.), </a:t>
            </a:r>
            <a:r>
              <a:rPr lang="en-IN" i="1" dirty="0">
                <a:latin typeface="Times New Roman" panose="02020603050405020304" pitchFamily="18" charset="0"/>
              </a:rPr>
              <a:t>Evolutionary social psychology </a:t>
            </a:r>
            <a:r>
              <a:rPr lang="en-IN" dirty="0">
                <a:latin typeface="Times New Roman" panose="02020603050405020304" pitchFamily="18" charset="0"/>
              </a:rPr>
              <a:t>(pp.21-48). Hillsdale, NJ: Erlbaum.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14984" y="3987423"/>
            <a:ext cx="112807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</a:rPr>
              <a:t>Books in print form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Snyder, C.R., Higgins, R.L. and </a:t>
            </a:r>
            <a:r>
              <a:rPr lang="en-IN" dirty="0" err="1">
                <a:latin typeface="Times New Roman" panose="02020603050405020304" pitchFamily="18" charset="0"/>
              </a:rPr>
              <a:t>Stucky</a:t>
            </a:r>
            <a:r>
              <a:rPr lang="en-IN" dirty="0">
                <a:latin typeface="Times New Roman" panose="02020603050405020304" pitchFamily="18" charset="0"/>
              </a:rPr>
              <a:t>, R.J. (Eds.). (1983). </a:t>
            </a:r>
            <a:r>
              <a:rPr lang="en-IN" i="1" dirty="0">
                <a:latin typeface="Times New Roman" panose="02020603050405020304" pitchFamily="18" charset="0"/>
              </a:rPr>
              <a:t>Excuses: Masquerades in search of grace</a:t>
            </a:r>
            <a:r>
              <a:rPr lang="en-IN" dirty="0">
                <a:latin typeface="Times New Roman" panose="02020603050405020304" pitchFamily="18" charset="0"/>
              </a:rPr>
              <a:t>. New York, NY: John Wiley &amp; Sons.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14983" y="5046266"/>
            <a:ext cx="111740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</a:rPr>
              <a:t>Dissertations and Thesis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Mack, S. (2000). “Desperate Optimism” M.S. Thesis, University of Calgary, Canada.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613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314" name="Title 1"/>
          <p:cNvSpPr txBox="1"/>
          <p:nvPr/>
        </p:nvSpPr>
        <p:spPr>
          <a:xfrm>
            <a:off x="2251075" y="106997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66888" y="1978025"/>
            <a:ext cx="8207375" cy="18621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500" b="1" i="1" u="none" strike="noStrike" kern="1200" cap="none" spc="0" normalizeH="0" baseline="0" noProof="0" dirty="0">
                <a:ln w="3175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Bodoni MT" panose="02070603080606020203" pitchFamily="18" charset="0"/>
                <a:ea typeface="+mn-ea"/>
                <a:cs typeface="+mn-cs"/>
              </a:rPr>
              <a:t>Thank you !</a:t>
            </a:r>
            <a:endParaRPr kumimoji="0" lang="en-IN" sz="11500" b="1" i="1" u="none" strike="noStrike" kern="1200" cap="none" spc="0" normalizeH="0" baseline="0" noProof="0" dirty="0">
              <a:ln w="3175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Bodoni MT" panose="02070603080606020203" pitchFamily="18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2045335" y="6261102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Jalgaon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Pandhurna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8" y="5610859"/>
            <a:ext cx="1874520" cy="901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C:\Users\Roshan_Dir_SP\AppData\Local\Packages\Microsoft.Windows.Photos_8wekyb3d8bbwe\TempState\ShareServiceTempFolder\GHRCEM Nagpur.jpe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0280" y="17464"/>
            <a:ext cx="2331720" cy="1506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314" name="Title 1"/>
          <p:cNvSpPr txBox="1"/>
          <p:nvPr/>
        </p:nvSpPr>
        <p:spPr>
          <a:xfrm>
            <a:off x="2251075" y="106997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2045335" y="6261102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Jalgaon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Pandhurna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8" y="5610859"/>
            <a:ext cx="1874520" cy="901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C:\Users\Roshan_Dir_SP\AppData\Local\Packages\Microsoft.Windows.Photos_8wekyb3d8bbwe\TempState\ShareServiceTempFolder\GHRCEM Nagpur.jpe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0280" y="17464"/>
            <a:ext cx="2331720" cy="150653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359727" y="843200"/>
            <a:ext cx="10666413" cy="4546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914400" eaLnBrk="0" hangingPunct="0">
              <a:buClrTx/>
              <a:buSzTx/>
              <a:buFontTx/>
              <a:buNone/>
              <a:defRPr/>
            </a:pP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   </a:t>
            </a:r>
            <a:r>
              <a:rPr kumimoji="0" lang="en-US" b="1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NOTE : Kindly Delete this slide at the end   </a:t>
            </a: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</a:t>
            </a:r>
          </a:p>
          <a:p>
            <a:pPr marR="0" algn="ctr" defTabSz="914400" eaLnBrk="0" hangingPunct="0">
              <a:buClrTx/>
              <a:buSzTx/>
              <a:buFontTx/>
              <a:buNone/>
              <a:defRPr/>
            </a:pPr>
            <a:endParaRPr kumimoji="0" lang="en-US" kern="1200" cap="none" spc="0" normalizeH="0" baseline="0" noProof="0" dirty="0">
              <a:solidFill>
                <a:srgbClr val="FF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Guidelines:</a:t>
            </a: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All main Head points(index points) should be written in Times new roman with font size 31.</a:t>
            </a: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All the Heading should be written in Times new roman with font size 18 and BOLD. </a:t>
            </a: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All the text in the body should be written in Times new roman with font size 16 only with </a:t>
            </a:r>
            <a:r>
              <a:rPr kumimoji="0" lang="en-US" kern="1200" cap="none" spc="0" normalizeH="0" baseline="0" noProof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black</a:t>
            </a: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font colour.</a:t>
            </a: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All Figures should be illustrated with </a:t>
            </a:r>
            <a:r>
              <a:rPr kumimoji="0" lang="en-US" i="1" kern="1200" cap="none" spc="0" normalizeH="0" baseline="0" noProof="0" dirty="0" err="1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Itallic</a:t>
            </a: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Times new roman with font size 16 only with </a:t>
            </a:r>
            <a:r>
              <a:rPr kumimoji="0" lang="en-US" kern="1200" cap="none" spc="0" normalizeH="0" baseline="0" noProof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black</a:t>
            </a: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font colour </a:t>
            </a: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endParaRPr kumimoji="0" lang="en-US" kern="1200" cap="none" spc="0" normalizeH="0" baseline="0" noProof="0" dirty="0">
              <a:solidFill>
                <a:srgbClr val="FF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 plan provided is sample , you all need to correct according to your project.</a:t>
            </a: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endParaRPr kumimoji="0" lang="en-US" sz="900" kern="1200" cap="none" spc="0" normalizeH="0" baseline="0" noProof="0" dirty="0">
              <a:solidFill>
                <a:srgbClr val="FF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Proposed Methodology slide should include Block diagram and flow chart.</a:t>
            </a: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endParaRPr kumimoji="0" lang="en-US" sz="1050" kern="1200" cap="none" spc="0" normalizeH="0" baseline="0" noProof="0" dirty="0">
              <a:solidFill>
                <a:srgbClr val="FF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 done slide should include detail circuit diagram(for hardware based project) and snapshot of intermediate results.</a:t>
            </a:r>
            <a:endParaRPr kumimoji="0" lang="en-IN" kern="1200" cap="none" spc="0" normalizeH="0" baseline="0" noProof="0" dirty="0">
              <a:solidFill>
                <a:srgbClr val="FF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endParaRPr kumimoji="0" lang="en-IN" kern="1200" cap="none" spc="0" normalizeH="0" baseline="0" noProof="0" dirty="0">
              <a:solidFill>
                <a:srgbClr val="FF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780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1021</Words>
  <Application>Microsoft Office PowerPoint</Application>
  <PresentationFormat>Widescreen</PresentationFormat>
  <Paragraphs>177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Arial Black</vt:lpstr>
      <vt:lpstr>Bodoni MT</vt:lpstr>
      <vt:lpstr>Calibri</vt:lpstr>
      <vt:lpstr>Calibri Light</vt:lpstr>
      <vt:lpstr>Castellar</vt:lpstr>
      <vt:lpstr>Times New Roman</vt:lpstr>
      <vt:lpstr>Wingdings 2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user1</dc:creator>
  <cp:lastModifiedBy>HP</cp:lastModifiedBy>
  <cp:revision>136</cp:revision>
  <cp:lastPrinted>2018-01-20T12:20:00Z</cp:lastPrinted>
  <dcterms:created xsi:type="dcterms:W3CDTF">2018-01-20T09:03:00Z</dcterms:created>
  <dcterms:modified xsi:type="dcterms:W3CDTF">2026-10-05T11:07:24Z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1033-11.2.0.10258</vt:lpwstr>
  </property>
  <property fmtid="{D5CDD505-2E9C-101B-9397-08002B2CF9AE}" pid="3" name="ICV">
    <vt:lpwstr>E8D44B7623514F2E894E82A1D1A1801D</vt:lpwstr>
  </property>
</Properties>
</file>