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  <p:sldMasterId id="2147483696" r:id="rId2"/>
    <p:sldMasterId id="2147483708" r:id="rId3"/>
  </p:sldMasterIdLst>
  <p:sldIdLst>
    <p:sldId id="307" r:id="rId4"/>
    <p:sldId id="259" r:id="rId5"/>
    <p:sldId id="264" r:id="rId6"/>
    <p:sldId id="290" r:id="rId7"/>
    <p:sldId id="303" r:id="rId8"/>
    <p:sldId id="299" r:id="rId9"/>
    <p:sldId id="305" r:id="rId10"/>
    <p:sldId id="306" r:id="rId11"/>
    <p:sldId id="304" r:id="rId12"/>
    <p:sldId id="301" r:id="rId13"/>
    <p:sldId id="270" r:id="rId14"/>
    <p:sldId id="302" r:id="rId15"/>
    <p:sldId id="292" r:id="rId16"/>
    <p:sldId id="276" r:id="rId17"/>
    <p:sldId id="296" r:id="rId18"/>
    <p:sldId id="297" r:id="rId19"/>
    <p:sldId id="298" r:id="rId20"/>
    <p:sldId id="274" r:id="rId21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A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0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62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06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41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37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31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06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8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35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283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4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9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80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371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261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827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075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61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7250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3599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9453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5825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1606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9604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0346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4553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41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8476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926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715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9385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95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5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6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06-10-2026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88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607.24861" TargetMode="External"/><Relationship Id="rId2" Type="http://schemas.openxmlformats.org/officeDocument/2006/relationships/hyperlink" Target="https://doi.org/10.48550/arxiv.2501.00309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hyperlink" Target="https://doi.org/10.48550/arxiv.2501.04695" TargetMode="External"/><Relationship Id="rId4" Type="http://schemas.openxmlformats.org/officeDocument/2006/relationships/hyperlink" Target="https://doi.org/10.48550/arxiv.2504.08748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02.0539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bdr.2023.100380" TargetMode="External"/><Relationship Id="rId5" Type="http://schemas.openxmlformats.org/officeDocument/2006/relationships/hyperlink" Target="https://doi.org/10.48550/arXiv.1903.05485" TargetMode="External"/><Relationship Id="rId4" Type="http://schemas.openxmlformats.org/officeDocument/2006/relationships/hyperlink" Target="https://arxiv.org/abs/2202.11883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501.00309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604.04969" TargetMode="External"/><Relationship Id="rId5" Type="http://schemas.openxmlformats.org/officeDocument/2006/relationships/hyperlink" Target="https://openaccess.thecvf.com/content/CVPR2026/html/Park_M3KG-RAG_Multi-hop_Multimodal_Knowledge_Graph-enhanced_Retrieval-Augmented_Generation_CVPR_2026_paper.html?utm_source=chatgpt.com" TargetMode="External"/><Relationship Id="rId4" Type="http://schemas.openxmlformats.org/officeDocument/2006/relationships/hyperlink" Target="https://doi.org/10.18653/v1/2026.acl-long.2218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20804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access.thecvf.com/content/CVPR2026/html/Liu_GraphVLM_Benchmarking_Vision_Language_Models_for_Multimodal_Graph_Learning_CVPR_2026_paper.html?utm_source=chatgpt.com" TargetMode="External"/><Relationship Id="rId4" Type="http://schemas.openxmlformats.org/officeDocument/2006/relationships/hyperlink" Target="https://openaccess.thecvf.com/content/ICCV2025/html/Liu_Aligning_Vision_to_Language_Annotation-Free_Multimodal_Knowledge_Graph_Construction_for_ICCV_2025_paper.html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2158181" y="2595170"/>
            <a:ext cx="8229600" cy="7571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solidFill>
                  <a:srgbClr val="0070C0"/>
                </a:solidFill>
                <a:latin typeface="Arial Black" panose="020B0A04020102020204" pitchFamily="34" charset="0"/>
                <a:ea typeface="Aharoni" pitchFamily="2" charset="-79"/>
              </a:rPr>
              <a:t>Knowledge Graph Powered Multimodal RAG for Corporate Sustainable Report Analysis </a:t>
            </a:r>
          </a:p>
        </p:txBody>
      </p:sp>
      <p:sp>
        <p:nvSpPr>
          <p:cNvPr id="3079" name="Rectangle 5"/>
          <p:cNvSpPr txBox="1"/>
          <p:nvPr/>
        </p:nvSpPr>
        <p:spPr>
          <a:xfrm>
            <a:off x="1981200" y="208661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1" name="Rectangle 8"/>
          <p:cNvSpPr/>
          <p:nvPr/>
        </p:nvSpPr>
        <p:spPr>
          <a:xfrm>
            <a:off x="0" y="17145"/>
            <a:ext cx="12012613" cy="1537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365125" lvl="1" indent="-285750" algn="ctr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G H RAISONI COLLEGE OF ENGINEERING AND MANAGEMENT</a:t>
            </a:r>
            <a:r>
              <a:rPr lang="en-US" altLang="en-US" sz="2000" b="1" dirty="0">
                <a:solidFill>
                  <a:srgbClr val="05A724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</a:t>
            </a:r>
            <a:endParaRPr lang="en-US" altLang="en-US" sz="1400" b="1" dirty="0">
              <a:solidFill>
                <a:srgbClr val="AB0000"/>
              </a:solidFill>
              <a:latin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1400" dirty="0">
                <a:latin typeface="Calibri" panose="020F0502020204030204" pitchFamily="34" charset="0"/>
              </a:rPr>
              <a:t>(Approved by AICTE, New Delhi and Recognized by DTE, Maharashtra) 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   An Autonomous Institute </a:t>
            </a:r>
            <a:r>
              <a:rPr lang="en-US" sz="1400" dirty="0">
                <a:latin typeface="Calibri" panose="020F0502020204030204" pitchFamily="34" charset="0"/>
              </a:rPr>
              <a:t>Affiliated to Rashtrasant Tukadoji Maharaj Nagpur University, Nagpur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Accredited by NAAC with A+ Grade</a:t>
            </a: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>
                <a:latin typeface="Times New Roman" panose="02020603050405020304" pitchFamily="18" charset="0"/>
              </a:rPr>
              <a:t>Department of Artificial Intelligence</a:t>
            </a:r>
            <a:endParaRPr lang="en-US" altLang="en-US" sz="2000" dirty="0"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13" name="Picture 12" descr="C:\Users\Roshan_Dir_SP\AppData\Local\Packages\Microsoft.Windows.Photos_8wekyb3d8bbwe\TempState\ShareServiceTempFolder\GHRCEM Nagpur.jpe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51"/>
            <a:ext cx="2331720" cy="150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521" y="47151"/>
            <a:ext cx="1874520" cy="901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1567656" y="1682750"/>
            <a:ext cx="9056688" cy="4247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SimSun" panose="02010600030101010101" pitchFamily="2" charset="-122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Project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Quality Assurance Initiative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 20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26-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2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7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5B8F814-2761-1B4F-5164-7F4941678B3B}"/>
              </a:ext>
            </a:extLst>
          </p:cNvPr>
          <p:cNvSpPr txBox="1"/>
          <p:nvPr/>
        </p:nvSpPr>
        <p:spPr>
          <a:xfrm>
            <a:off x="1169988" y="3119438"/>
            <a:ext cx="10031413" cy="33020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                         </a:t>
            </a:r>
            <a:r>
              <a:rPr lang="en-US" sz="4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Incharge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Umesh Lanjewar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	                    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Vaishali Patil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Assistant Professor                                                    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Projectees</a:t>
            </a: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Prajwal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helkar                 Prajwal Dhande               Purva Wagh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Radhika Bangade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Pranjali Sakure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Rinku Meshram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2600" b="1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tabLst>
                <a:tab pos="2776538" algn="l"/>
              </a:tabLst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Session 2026-2027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 bwMode="auto">
          <a:xfrm>
            <a:off x="359799" y="965914"/>
            <a:ext cx="10445750" cy="411289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Project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(If any)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 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Presentation / Project Competition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Cost Estimation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5122" name="TextBox 1"/>
          <p:cNvSpPr txBox="1"/>
          <p:nvPr/>
        </p:nvSpPr>
        <p:spPr>
          <a:xfrm>
            <a:off x="397982" y="1124850"/>
            <a:ext cx="10987774" cy="501675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sustainability reports contain text, tables, charts, figures, and KPIs distributed across many pages.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sustainability information is often connected across different sections of the report, making manual analysis difficult.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RAG mainly retrieves relevant text, but may fail to capture relationships between visual and textual evidence.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RAG helps process text and visual information, while a Knowledge Graph connects related entities and evidence across pages.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applies this approach specifically to corporate sustainability reports.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and connects KPIs, targets, values, reporting periods, business segments, regions, charts, and tables.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performs graph-based retrieval and reasoning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sustainability performance and target progress.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presented through a dashboard, knowledge graph, and source-level evidence, rather than a chatbot.</a:t>
            </a:r>
          </a:p>
          <a:p>
            <a:pPr algn="just" eaLnBrk="0" hangingPunct="0"/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963465"/>
              </p:ext>
            </p:extLst>
          </p:nvPr>
        </p:nvGraphicFramePr>
        <p:xfrm>
          <a:off x="0" y="651270"/>
          <a:ext cx="12191999" cy="69179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9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8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6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Reasoning with Multimodal Knowledge Graph –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Junlin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Lee,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Yequan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Wang, Jing Li, Min Zhang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ACL, 2024(DOI: https://doi.org/10.18653/v1/2024.acl-long.579)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MR-MKG, using Multimodal Knowledge Graphs and RGAT to enhance LLM reasoning efficiently (updates only ~2.25% of parameters). Achieves SOTA on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ScienceQA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MARS.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Highly dependent on retrieval quality; prone to retrieving noisy or ambiguous sub-graphs; untested on 70B+ scale LLMs.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77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MuRAG: Multimodal Retrieval-Augmented Generator for Open Question Answering over Images and Text –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Wenhu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Chen,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Hexiang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Hu, Xi Chen, Pat Verga, William W. Cohen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EMNLP, 2022 (Proceedings of the 2022 Conference on Empirical Methods in Natural Language Processing, pp. 5558–5570). DOI: https://doi.org/10.18653/v1/2022.emnlp-main.375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MuRAG, which retrieves both images and text using multimodal memory. Achieves 10–20% absolute improvement over existing models on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WebQA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MultimodalQA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understanding remains the main bottleneck, especially for counting, object recognition, complex scenes, and OCR.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60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Graph RAG for Long-range Visually Rich Document Understanding – Yi-Cheng Wang, Chu-Song Chen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2026 (arXiv:2606.28780)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(DOI: 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https://doi.org/10.48550/arXiv.2202.05786)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KG4VD, integrating text, figures, and layout into a unified multimodal knowledge graph for long-range document VQA. Also introduces the DLVQA benchmark and outperforms existing MMRAG and KG-based methods. </a:t>
                      </a:r>
                    </a:p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Page-level retrieval struggles with holistic document understanding, and comprehensive document-level VQA datasets are limited.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7475690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580E-FEEB-5980-5797-F52ECDBA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506B4F9A-DD2A-FE1F-4DC4-8FEAB84955FE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6F540D-BA56-51A7-ED52-A7D9D38AB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54910"/>
              </p:ext>
            </p:extLst>
          </p:nvPr>
        </p:nvGraphicFramePr>
        <p:xfrm>
          <a:off x="0" y="651271"/>
          <a:ext cx="12191999" cy="78508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8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357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RAG-Anything: All-in-One RAG Framework – Zirui Guo,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Xubin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Ren,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Lingrui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Xu, Jiahao Zhang, Chao Huang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2025 (arXiv:2510.12323)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(DOI: https://doi.org/10.18653/v1/2024.acl-long.579)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 unified RAG framework for text, images, tables, and equations using dual graphs and hybrid retrieval. Shows strong performance, especially on long documents.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Suffers from text-centric retrieval bias, spatial/layout challenges, and cross-modal misalignment.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27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VisRAG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Vision-based Retrieval-augmented Generation on Multi-modality Documents – Shi Yu,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Chaoyue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Tang,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Bokai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Junbo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Cui, Junhao Ran,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Yukun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Yan, Zhenghao Liu, Shuo Wang, Xu Han, Zhiyuan Liu,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Maosong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ICLR, 2025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 (10.48550/arXiv.2410.10594)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a vision-language-based RAG pipeline that directly retrieves document pages as images instead of converting them into text. Achieves 20–40% better end-to-end performance than traditional text-based RAG.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vision-language models and can still face challenges with complex visual document understanding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12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VDocRAG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Retrieval-Augmented Generation over Visually-Rich Documents – Ryota Tanaka, Taichi Iki, Taku Hasegawa, Kyosuke Nishida, Kuniko Saito, Jun Suzuki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CVPR, 2025, pp. 24827–24837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(DOI: 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https://doi.org/10.48550/arXiv.2202.05786)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Presents a RAG framework designed for visually rich documents containing charts, tables, and mixed formats such as PDF and PPTX. It focuses on retrieving relevant visual document content for question answering.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 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diverse document formats and visually complex content remains challenging.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48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48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48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F636C9E8-CF45-ED94-7FF6-082DD12F5920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BC800D-27BD-FB17-0E5F-6D30A784F7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7475690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3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2676" y="1452582"/>
            <a:ext cx="10432743" cy="424731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&amp; Unstructured Data: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Corporate ESG and sustainability reports are dense, unstructured PDFs (often 100+ pages) filled with complex tables and charts, making manual analysis extremely slow and error-prone.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Hallucination Risks: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Standard Large Language Models (LLMs) often hallucinate or lose context when trying to extract precise quantitative metrics and KPIs from long financial documents.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Traceability: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Current automated systems struggle to provide exact provenance (source page and text bounding boxes), making it difficult for auditors to trust and verify the extracted AI data.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Disconnected Information: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Important entities—like specific emission scopes and their future reduction targets—are often scattered across different pages and lack a structured, relational mapping.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Benchmarking: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There is a lack of unified platforms capable of performing instant, year-over-year comparative analysis of a company's climate goals across multiple reports.</a:t>
            </a:r>
          </a:p>
        </p:txBody>
      </p:sp>
    </p:spTree>
    <p:extLst>
      <p:ext uri="{BB962C8B-B14F-4D97-AF65-F5344CB8AC3E}">
        <p14:creationId xmlns:p14="http://schemas.microsoft.com/office/powerpoint/2010/main" val="249106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9832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95002" y="1591082"/>
            <a:ext cx="9723837" cy="39703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Multimodal Extraction Pipeline: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build an automated system capable of parsing complex text, tables, and charts directly from dense corporate sustainability PDFs using Vision AI.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Multimodal Knowledge Graph (MMKG):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map and interlink extracted entities—such as emission scopes, KPIs, and sustainability targets—into a structured Neo4j graph database.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Hallucination-Free RAG: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create a Graph-based Retrieval-Augmented Generation (RAG) architecture that guarantees accurate, trustworthy answers without AI hallucination.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Absolute Traceability: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design an interactive "Evidence Explorer" that links every extracted data point directly back to its exact source page and paragraph in the original document.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Corporate Benchmarking: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provide a dynamic, user-friendly dashboard that allows stakeholders and auditors to instantly compare year-over-year sustainability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AD4F-1C0E-77BE-B91A-32E4F6D7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>
            <a:extLst>
              <a:ext uri="{FF2B5EF4-FFF2-40B4-BE49-F238E27FC236}">
                <a16:creationId xmlns:a16="http://schemas.microsoft.com/office/drawing/2014/main" id="{F1899F85-F576-2601-6795-2609B0B2DE37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216B3BB-E48F-3578-9C8A-E8B698AC0D97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591DDB-9704-0725-309A-70E680036F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9576C6-B6EB-510F-FE5C-DFCE1132E4C8}"/>
              </a:ext>
            </a:extLst>
          </p:cNvPr>
          <p:cNvSpPr txBox="1"/>
          <p:nvPr/>
        </p:nvSpPr>
        <p:spPr>
          <a:xfrm>
            <a:off x="501445" y="807739"/>
            <a:ext cx="10363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Document Parsing: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Raw sustainability PDFs are ingested and processed using Vision-Language Models (VLMs) to accurately extract unstructured text, complex tables, and charts.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&amp; Triplet Extraction: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Large Language Models (LLMs) parse the extracted data to identify key sustainability entities, quantitative values, and the semantic relationships between them (Node-Edge-Node triplets).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Construction: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extracted triplets are structured and stored dynamically into a Neo4j Graph Database, creating a heavily interconnected web of corporate data.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Dual-Index Hybrid Retrieval: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utilizes a hybrid search engine combining Vector embeddings (dense search) with Graph traversals to accurately retrieve contextual data for any query.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Multi-Hop Reasoning &amp; Analytics: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final engine synthesizes the retrieved data, performing cross-document anomaly detection and automated mathematical comparisons (like Year-over-Year trends) to generate verified insights.</a:t>
            </a:r>
            <a:endParaRPr lang="en-IN" sz="976" b="0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5ECBD-5D74-6392-4244-7CBE097B49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24059"/>
            <a:ext cx="12192000" cy="20136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E61E8C-3F36-A8FB-4244-0B23AB0BCBC6}"/>
              </a:ext>
            </a:extLst>
          </p:cNvPr>
          <p:cNvSpPr txBox="1"/>
          <p:nvPr/>
        </p:nvSpPr>
        <p:spPr>
          <a:xfrm>
            <a:off x="3873910" y="6251253"/>
            <a:ext cx="444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 Block Diagram of MMKG workflow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21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922243-B178-C67E-E9FE-70A9BBA37B1A}"/>
              </a:ext>
            </a:extLst>
          </p:cNvPr>
          <p:cNvSpPr txBox="1"/>
          <p:nvPr/>
        </p:nvSpPr>
        <p:spPr>
          <a:xfrm>
            <a:off x="776747" y="1435510"/>
            <a:ext cx="104615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Architecture: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Built a highly responsive and interactive user interface using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Next.js (React)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integrating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dynamic data visualization.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Services: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Developed scalable, asynchronous RESTful APIs using 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(Python)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handle heavy document ingestion and AI model interactions seamlessly.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Database Integration: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Deployed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Neo4j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as the core Knowledge Graph engine to store, map, and query complex relationships between sustainability entities and targets.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Pipeline: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Integrated advanced Vision AI (such as 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LlamaParse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alongside state-of-the-art LLMs (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Llama-3 / GPT-4o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for highly accurate text and table extraction.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Search Implementation: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Engineered a dual-retrieval engine combining standard vector embeddings with Graph algorithms (like PageRank) to enable hallucination-free querying.</a:t>
            </a:r>
            <a:endParaRPr lang="en-IN" sz="976" b="0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75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9768" y="925265"/>
            <a:ext cx="9870337" cy="311162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Ingestion Pipeline: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Developed and deployed the backend module to upload, parse, and process raw corporate sustainability PDFs using Multimodal Vision AI.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Integration: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Successfully built the Neo4j Graph database backend to securely store and map extracted entities, relations, and KPIs.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Development: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Created a dynamic Next.js frontend dashboard to visualize extracted metrics, carbon reduction targets, and AI confidence scores.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Explorer Implementation: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the traceability module that allows users to instantly trace any extracted KPI back to its exact source page in the original PDF.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Engine: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Completed the Year-over-Year (YoY) comparative analysis tool, enabling automated trajectory mapping of a company's emissions across different fiscal years.</a:t>
            </a:r>
          </a:p>
          <a:p>
            <a:pPr marL="342900" lvl="0" indent="-342900" fontAlgn="auto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BC1B1-0B6A-541A-27D2-65C0A91F4776}"/>
              </a:ext>
            </a:extLst>
          </p:cNvPr>
          <p:cNvGrpSpPr/>
          <p:nvPr/>
        </p:nvGrpSpPr>
        <p:grpSpPr>
          <a:xfrm>
            <a:off x="599768" y="3775665"/>
            <a:ext cx="10802511" cy="2475833"/>
            <a:chOff x="1189703" y="3769058"/>
            <a:chExt cx="10802511" cy="24758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FEDC732-8BD9-F3BF-2998-1D27A8892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9703" y="3769058"/>
              <a:ext cx="5178459" cy="247583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C306851-E3AE-905E-1B44-D696B6D8A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68162" y="4080858"/>
              <a:ext cx="5624052" cy="197843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AB1A673-F39D-14F9-ECAD-F3A8EDABEBB2}"/>
              </a:ext>
            </a:extLst>
          </p:cNvPr>
          <p:cNvSpPr txBox="1"/>
          <p:nvPr/>
        </p:nvSpPr>
        <p:spPr>
          <a:xfrm>
            <a:off x="3873910" y="6251253"/>
            <a:ext cx="4444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 Result Benchmark of MMKG Report Analysis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802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18" name="TextBox 7"/>
          <p:cNvSpPr txBox="1"/>
          <p:nvPr/>
        </p:nvSpPr>
        <p:spPr>
          <a:xfrm>
            <a:off x="674265" y="1443841"/>
            <a:ext cx="10544339" cy="397031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Integration: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Moving beyond standard text extraction by using Vision AI (like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LlamaParse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accurately interpret complex financial tables, charts, and graphs from PDFs.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Graph-RAG Architecture: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Combining Retrieval-Augmented Generation (RAG) with a Neo4j Knowledge Graph to map relational data, completely eliminating the "hallucination" problems of traditional LLMs.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Data Traceability: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Developing a unique "Evidence Explorer" that links every extracted metric to its exact source page, ensuring 100% auditability and trust for corporate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Confidence Scoring: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Implementing a specialized scoring engine that assigns an AI confidence percentage to every extracted KPI, automatically flagging uncertain data for human review.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Year-over-Year Benchmarking: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Creating an automated engine that instantly queries the graph database to generate comparative timeline charts across different fiscal years without manual data entry.</a:t>
            </a: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242" name="Title 1"/>
          <p:cNvSpPr txBox="1"/>
          <p:nvPr/>
        </p:nvSpPr>
        <p:spPr>
          <a:xfrm>
            <a:off x="2476500" y="40989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 (till date)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3026" y="1868081"/>
            <a:ext cx="9932122" cy="34163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Knowledge Graph Construction: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Successfully processed complex text, tables, and charts to build a structured Neo4j graph linking corporate KPIs, emission targets, and values.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Cross-Year Benchmarking: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Developed an interactive dashboard that automatically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trends, target-vs-actual progress, and performs Year-over-Year (YoY) comparisons.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Cross-Page Reasoning: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Implemented a retrieval engine capable of connecting distributed information across hundreds of pages to detect inconsistencies in ESG reporting.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Data Traceability: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Achieved 100% source-traceable results via an "Evidence Explorer," allowing users to instantly verify extracted metrics against the original PDF pages.</a:t>
            </a:r>
          </a:p>
          <a:p>
            <a:pPr lvl="0" algn="just" eaLnBrk="0" hangingPunct="0"/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B03028-5DF7-EFD3-EE01-1BA024706560}"/>
              </a:ext>
            </a:extLst>
          </p:cNvPr>
          <p:cNvSpPr txBox="1"/>
          <p:nvPr/>
        </p:nvSpPr>
        <p:spPr>
          <a:xfrm>
            <a:off x="648929" y="1166842"/>
            <a:ext cx="102157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Multimodal Graph-RAG platform that fully automates the extraction and analysis of dense corporate sustainability reports.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Eliminated AI hallucinations by ensuring 100% data traceability through an interactive Evidence Explorer and Knowledge Graph.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Auditing: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Integrating live web-scraping to automatically cross-reference corporate sustainability claims with live news and external audits.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Multi-Lingual Support: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Expanding the AI vision pipeline to process and translate global ESG reports published in multiple languages.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Upgrading the Graph engine to forecast a company's future carbon footprint and predict if they will actually meet their 2030/2050 climate goals.</a:t>
            </a:r>
            <a:endParaRPr lang="en-IN" sz="976" b="0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57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415925" y="1668700"/>
            <a:ext cx="11463654" cy="397031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Han, H., Wang, Y., Shomer, H., Guo, K., Ding, J., Lei, Y., Halappanavar, M., Rossi, R. A., Mukherjee, S., Tang, X., He, Q., Hua, Z., Long, B., Zhao, T., Shah, N., Javari, A., Xia, Y., &amp; Tang, J. (2024). Retrieval-Augmented Generation with Graphs (GraphRAG).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https://doi.org/10.48550/arxiv.2501.00309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Cited by: 368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He, X., Wang, Y., Fan, W., Li, Q., Zhang, Q., Chang, Y., &amp; Wang, X. (2026). HVM-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Holistic-View Multimodal Graph Retrieval-Augmented Generation on Complex Document.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https://doi.org/10.48550/arXiv.2607.24861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Mei, L., Mo, S., Yang, Z., &amp; Chen, C. (2025). A Survey of Multimodal Retrieval-Augmented Generation.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https://doi.org/10.48550/arxiv.2504.08748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by: 112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Mortaheb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Khojastepour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A., Chakradhar, S. T.,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Ulukus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(2025). Re-ranking the Context for Multimodal Retrieval Augmented Generation.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https://doi.org/10.48550/arxiv.2501.04695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by: 25</a:t>
            </a:r>
          </a:p>
          <a:p>
            <a:pPr algn="just"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5" y="1389986"/>
            <a:ext cx="1114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984" y="2617262"/>
            <a:ext cx="102444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4" y="3581108"/>
            <a:ext cx="11265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14984" y="4819968"/>
            <a:ext cx="11463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C4CC84C-6665-D7EF-94BE-D23964D048A6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6ECDA-97D1-A2F6-F3E1-44082A876E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DDA32F-6E86-211E-B845-0FF4FC12D947}"/>
              </a:ext>
            </a:extLst>
          </p:cNvPr>
          <p:cNvSpPr txBox="1"/>
          <p:nvPr/>
        </p:nvSpPr>
        <p:spPr>
          <a:xfrm>
            <a:off x="593622" y="1591082"/>
            <a:ext cx="104948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Chen, Z., Zhang, Y., Fang, Y., Geng, Y., Guo, L., Chen, X., Li, Q., Zhang, W., Chen, J., Zhu, Y., Li, J., Liu, X., Pan, J. Z., Zhang, N., &amp; Chen, H.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Graphs Meet Multi-Modal Learning: A Comprehensive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https://doi.org/10.48550/arXiv.2402.05391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Cited by 27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Zhu, X., Li, Z., Wang, X., Jiang, X., Sun, P., Wang, X., Xiao, Y., &amp; Yuan, N. J. (2022).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Knowledge Graph Construction and Application: A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https://arxiv.org/abs/2202.11883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Cited by 149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Liu, Y., Li, H., Garcia-Duran, A., Niepert, M., Onoro-Rubio, D., &amp; Rosenblum, D. S. (2019).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MMKG: Multi-Modal Knowledge Graphs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https://doi.org/10.48550/arXiv.1903.05485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284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Peng, J., Hu, X., Huang, W., &amp; Yang, J. (2023).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Multi-Modal Knowledge Graph: A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Big Data Research, 32, 100380.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https://doi.org/10.1016/j.bdr.2023.100380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25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30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431E7DC-1860-2F50-A998-849FEBE3FE7B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AD091-0F40-F611-9A2B-032E3419BD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7E6477-94CB-0CE7-EBFA-BB5EF12A340A}"/>
              </a:ext>
            </a:extLst>
          </p:cNvPr>
          <p:cNvSpPr txBox="1"/>
          <p:nvPr/>
        </p:nvSpPr>
        <p:spPr>
          <a:xfrm>
            <a:off x="633845" y="1194955"/>
            <a:ext cx="105648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Han, H., Wang, Y., Shomer, H., Guo, K., Ding, J., Lei, Y., Halappanavar, M., Rossi, R. A., Mukherjee, S., Tang, X., He, Q., Hua, Z., Long, B., Zhao, T., Shah, N., Javari, A., Xia, Y., &amp; Tang, J.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with Graphs (GraphRAG)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https://doi.org/10.48550/arXiv.2501.00309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21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Hsiao, C.-H., Wang, Y.-C., Lin, T.-S., Yeh, Y.-R., &amp; Chen, C.-S.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MegaRAG: Multimodal Knowledge Graph-Based Retrieval Augmented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64th Annual Meeting of the Association for Computational Linguistics (ACL 2026), 48031–48059.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https://doi.org/10.18653/v1/2026.acl-long.2218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0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Park, H., Seo, J., Mun, J., Park, H., Byeon, W., Kim, S. J., Im, H., Lee, J., &amp; Kim, S.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M³KG-RAG: Multi-hop Multimodal Knowledge Graph-enhanced Retrieval-Augmented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IEEE/CVF Conference on Computer Vision and Pattern Recognition (CVPR 2026), 14968–14978.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CVPR Open Access Paper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0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Dai, S., Huang, Q., You, X., &amp; Yu, J.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MG²-RAG: Multi-Granularity Graph for Multimodal Retrieval-Augmented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https://arxiv.org/abs/2604.04969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13</a:t>
            </a:r>
          </a:p>
        </p:txBody>
      </p:sp>
    </p:spTree>
    <p:extLst>
      <p:ext uri="{BB962C8B-B14F-4D97-AF65-F5344CB8AC3E}">
        <p14:creationId xmlns:p14="http://schemas.microsoft.com/office/powerpoint/2010/main" val="41131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49B7F8-92D8-3D5F-8D15-BB62E6168165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CAB282-DCB2-9B48-86C0-29E2E1FEE6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2F9492-0770-7C37-47B4-41CF71D949AF}"/>
              </a:ext>
            </a:extLst>
          </p:cNvPr>
          <p:cNvSpPr txBox="1"/>
          <p:nvPr/>
        </p:nvSpPr>
        <p:spPr>
          <a:xfrm>
            <a:off x="521445" y="1859339"/>
            <a:ext cx="105883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Wan, X., &amp; Yu, H. (2025).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MMGraphRAG: Bridging Vision and Language with Interpretable Multimodal Knowledge Graphs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https://arxiv.org/abs/2507.20804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10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Liu, J., Meng, S., Gao, Y., Mao, S., Cai, P., Yan, G., Chen, Y., Bian, Z., Wang, D., &amp; Shi, B. (2025).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Vision to Language: Annotation-Free Multimodal Knowledge Graph Construction for Enhanced LLMs Reasoning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IEEE/CVF International Conference on Computer Vision (ICCV 2025), 981–992.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ICCV Open Access Paper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17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Liu, J., Fan, D., Ji, C., Zha, D., &amp; Tan, Q. (2026).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GraphVLM: Benchmarking Vision Language Models for Multimodal Graph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IEEE/CVF Conference on Computer Vision and Pattern Recognition (CVPR 2026), 9491–9500.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CVPR Open Access Paper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Cited by 2</a:t>
            </a:r>
          </a:p>
        </p:txBody>
      </p:sp>
    </p:spTree>
    <p:extLst>
      <p:ext uri="{BB962C8B-B14F-4D97-AF65-F5344CB8AC3E}">
        <p14:creationId xmlns:p14="http://schemas.microsoft.com/office/powerpoint/2010/main" val="2487883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 for PQAI</Template>
  <TotalTime>588</TotalTime>
  <Words>3091</Words>
  <Application>Microsoft Office PowerPoint</Application>
  <PresentationFormat>Widescreen</PresentationFormat>
  <Paragraphs>192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Arial Black</vt:lpstr>
      <vt:lpstr>Bodoni MT</vt:lpstr>
      <vt:lpstr>Calibri</vt:lpstr>
      <vt:lpstr>Calibri Light</vt:lpstr>
      <vt:lpstr>Times New Roman</vt:lpstr>
      <vt:lpstr>Wingdings 2</vt:lpstr>
      <vt:lpstr>1_Office Theme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Prajwal Dhande</cp:lastModifiedBy>
  <cp:revision>133</cp:revision>
  <cp:lastPrinted>2018-01-20T12:20:00Z</cp:lastPrinted>
  <dcterms:created xsi:type="dcterms:W3CDTF">2018-01-20T09:03:00Z</dcterms:created>
  <dcterms:modified xsi:type="dcterms:W3CDTF">2026-10-06T07:29:19Z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E8D44B7623514F2E894E82A1D1A1801D</vt:lpwstr>
  </property>
</Properties>
</file>