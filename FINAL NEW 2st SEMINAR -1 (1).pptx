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sldIdLst>
    <p:sldId id="278" r:id="rId4"/>
    <p:sldId id="259" r:id="rId5"/>
    <p:sldId id="264" r:id="rId6"/>
    <p:sldId id="290" r:id="rId7"/>
    <p:sldId id="303" r:id="rId8"/>
    <p:sldId id="270" r:id="rId9"/>
    <p:sldId id="292" r:id="rId10"/>
    <p:sldId id="304" r:id="rId11"/>
    <p:sldId id="299" r:id="rId12"/>
    <p:sldId id="300" r:id="rId13"/>
    <p:sldId id="301" r:id="rId14"/>
    <p:sldId id="302" r:id="rId15"/>
    <p:sldId id="273" r:id="rId16"/>
    <p:sldId id="276" r:id="rId17"/>
    <p:sldId id="296" r:id="rId18"/>
    <p:sldId id="297" r:id="rId19"/>
    <p:sldId id="298" r:id="rId20"/>
    <p:sldId id="274" r:id="rId21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20-09-2026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607.24861" TargetMode="External"/><Relationship Id="rId2" Type="http://schemas.openxmlformats.org/officeDocument/2006/relationships/hyperlink" Target="https://doi.org/10.48550/arxiv.2501.0030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s://doi.org/10.48550/arxiv.2501.04695" TargetMode="External"/><Relationship Id="rId4" Type="http://schemas.openxmlformats.org/officeDocument/2006/relationships/hyperlink" Target="https://doi.org/10.48550/arxiv.2504.0874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2.0539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bdr.2023.100380" TargetMode="External"/><Relationship Id="rId5" Type="http://schemas.openxmlformats.org/officeDocument/2006/relationships/hyperlink" Target="https://doi.org/10.48550/arXiv.1903.05485" TargetMode="External"/><Relationship Id="rId4" Type="http://schemas.openxmlformats.org/officeDocument/2006/relationships/hyperlink" Target="https://arxiv.org/abs/2202.11883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01.00309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4.04969" TargetMode="External"/><Relationship Id="rId5" Type="http://schemas.openxmlformats.org/officeDocument/2006/relationships/hyperlink" Target="https://openaccess.thecvf.com/content/CVPR2026/html/Park_M3KG-RAG_Multi-hop_Multimodal_Knowledge_Graph-enhanced_Retrieval-Augmented_Generation_CVPR_2026_paper.html?utm_source=chatgpt.com" TargetMode="External"/><Relationship Id="rId4" Type="http://schemas.openxmlformats.org/officeDocument/2006/relationships/hyperlink" Target="https://doi.org/10.18653/v1/2026.acl-long.221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2080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access.thecvf.com/content/CVPR2026/html/Liu_GraphVLM_Benchmarking_Vision_Language_Models_for_Multimodal_Graph_Learning_CVPR_2026_paper.html?utm_source=chatgpt.com" TargetMode="External"/><Relationship Id="rId4" Type="http://schemas.openxmlformats.org/officeDocument/2006/relationships/hyperlink" Target="https://openaccess.thecvf.com/content/ICCV2025/html/Liu_Aligning_Vision_to_Language_Annotation-Free_Multimodal_Knowledge_Graph_Construction_for_ICCV_2025_paper.html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1169988" y="3119438"/>
            <a:ext cx="10031413" cy="33020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       </a:t>
            </a:r>
            <a:r>
              <a:rPr lang="en-US" sz="4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Incharge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Umesh Lanjewar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       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Sakshi Sadhwani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Assistant Professor                                                    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Projectees</a:t>
            </a: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Prajwal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helkar                 Prajwal Dhande               Purva Wagh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Radhika Bangade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Pranjali Sakure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Rinku Meshram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2600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tabLst>
                <a:tab pos="2776538" algn="l"/>
              </a:tabLst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 2026-2027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587529"/>
            <a:ext cx="8229600" cy="758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Knowledge Graph powered multimodal RAG for Corporate sustainable Report Analysis 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8" name="Rectangle 5"/>
          <p:cNvSpPr txBox="1"/>
          <p:nvPr/>
        </p:nvSpPr>
        <p:spPr>
          <a:xfrm>
            <a:off x="1611086" y="1550595"/>
            <a:ext cx="8817428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en-US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Introductory Project Seminar</a:t>
            </a:r>
          </a:p>
          <a:p>
            <a:pPr algn="ctr">
              <a:spcBef>
                <a:spcPts val="0"/>
              </a:spcBef>
            </a:pPr>
            <a:r>
              <a:rPr lang="en-US" altLang="en-US" sz="2000" b="1" i="1" dirty="0">
                <a:solidFill>
                  <a:srgbClr val="92D050"/>
                </a:solidFill>
                <a:latin typeface="Times New Roman" panose="02020603050405020304" pitchFamily="18" charset="0"/>
              </a:rPr>
              <a:t>(B. Tech 7</a:t>
            </a:r>
            <a:r>
              <a:rPr lang="en-US" altLang="en-US" sz="2000" b="1" i="1" baseline="30000" dirty="0">
                <a:solidFill>
                  <a:srgbClr val="92D05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sz="2000" b="1" i="1" dirty="0">
                <a:solidFill>
                  <a:srgbClr val="92D050"/>
                </a:solidFill>
                <a:latin typeface="Times New Roman" panose="02020603050405020304" pitchFamily="18" charset="0"/>
              </a:rPr>
              <a:t> Semester)</a:t>
            </a:r>
            <a:endParaRPr lang="en-US" altLang="en-US" sz="2000" b="1" i="1" u="sng" dirty="0">
              <a:solidFill>
                <a:srgbClr val="92D05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763486" y="2198592"/>
            <a:ext cx="8357620" cy="4247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17145"/>
            <a:ext cx="12012613" cy="1537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Artificial Intelligence</a:t>
            </a: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3" name="Picture 12" descr="C:\Users\Roshan_Dir_SP\AppData\Local\Packages\Microsoft.Windows.Photos_8wekyb3d8bbwe\TempState\ShareServiceTempFolder\GHRCEM Nagpur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2331720" cy="1537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480" y="35718"/>
            <a:ext cx="1874520" cy="901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428625" y="1303256"/>
            <a:ext cx="10445750" cy="412115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Flow chart /Block Diagram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Mentor’s Suggestions (If any)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(till date)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(till date)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397982" y="1124850"/>
            <a:ext cx="10987774" cy="501675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sustainability reports contain text, tables, charts, figures, and KPIs distributed across many pages.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sustainability information is often connected across different sections of the report, making manual analysis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RAG mainly retrieves relevant text, but may fail to capture relationships between visual and textual evidence.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RAG helps process text and visual information, while a Knowledge Graph connects related entities and evidence across pages.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applies this approach specifically to corporate sustainability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and connects KPIs, targets, values, reporting periods, business segments, regions, charts, and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performs graph-based retrieval and reasoning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sustainability performance and target progress.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presented through a dashboard, knowledge graph, and source-level evidence, rather than a chatbot.</a:t>
            </a:r>
          </a:p>
          <a:p>
            <a:pPr algn="just" eaLnBrk="0" hangingPunct="0"/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963465"/>
              </p:ext>
            </p:extLst>
          </p:nvPr>
        </p:nvGraphicFramePr>
        <p:xfrm>
          <a:off x="0" y="651270"/>
          <a:ext cx="12191999" cy="69179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9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8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6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Reasoning with Multimodal Knowledge Graph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Junlin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Yequan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Wang, Jing Li, Min Zhang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ACL, 2024(DOI: https://doi.org/10.18653/v1/2024.acl-long.579)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MR-MKG, using Multimodal Knowledge Graphs and RGAT to enhance LLM reasoning efficiently (updates only ~2.25% of parameters). Achieves SOTA on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ScienceQA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MARS.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Highly dependent on retrieval quality; prone to retrieving noisy or ambiguous sub-graphs; untested on 70B+ scale LLMs.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77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MuRAG: Multimodal Retrieval-Augmented Generator for Open Question Answering over Images and Text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Wenhu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Hexiang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Hu, Xi Chen, Pat Verga, William W. Cohen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EMNLP, 2022 (Proceedings of the 2022 Conference on Empirical Methods in Natural Language Processing, pp. 5558–5570). DOI: https://doi.org/10.18653/v1/2022.emnlp-main.375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MuRAG, which retrieves both images and text using multimodal memory. Achieves 10–20% absolute improvement over existing models on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WebQA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MultimodalQA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understanding remains the main bottleneck, especially for counting, object recognition, complex scenes, and OCR.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6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Graph RAG for Long-range Visually Rich Document Understanding – Yi-Cheng Wang, Chu-Song Chen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2026 (arXiv:2606.28780)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https://doi.org/10.48550/arXiv.2202.05786)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KG4VD, integrating text, figures, and layout into a unified multimodal knowledge graph for long-range document VQA. Also introduces the DLVQA benchmark and outperforms existing MMRAG and KG-based methods. </a:t>
                      </a:r>
                    </a:p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Page-level retrieval struggles with holistic document understanding, and comprehensive document-level VQA datasets are limited.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7475690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580E-FEEB-5980-5797-F52ECDBA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506B4F9A-DD2A-FE1F-4DC4-8FEAB84955FE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6F540D-BA56-51A7-ED52-A7D9D38A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916080"/>
              </p:ext>
            </p:extLst>
          </p:nvPr>
        </p:nvGraphicFramePr>
        <p:xfrm>
          <a:off x="0" y="651271"/>
          <a:ext cx="12191999" cy="765391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8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844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RAG-Anything: All-in-One RAG Framework – Zirui Guo,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Xubin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Lingrui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Xu, Jiahao Zhang, Chao Huang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2025 (arXiv:2510.12323)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https://doi.org/10.18653/v1/2024.acl-long.579)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unified RAG framework for text, images, tables, and equations using dual graphs and hybrid retrieval. Shows strong performance, especially on long documents.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Suffers from text-centric retrieval bias, spatial/layout challenges, and cross-modal misalignment.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VisRAG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Vision-based Retrieval-augmented Generation on Multi-modality Documents – Shi Yu,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Chaoyue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Tang,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Bokai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Junbo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Cui, Junhao Ran,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Yukun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Yan, Zhenghao Liu, Shuo Wang, Xu Han, Zhiyuan Liu,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Maosong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ICLR, 2025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 (10.48550/arXiv.2410.10594)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vision-language-based RAG pipeline that directly retrieves document pages as images instead of converting them into text. Achieves 20–40% better end-to-end performance than traditional text-based RAG.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vision-language models and can still face challenges with complex visual document understanding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6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VDocRAG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Retrieval-Augmented Generation over Visually-Rich Documents – Ryota Tanaka, Taichi Iki, Taku Hasegawa, Kyosuke Nishida, Kuniko Saito, Jun Suzuki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CVPR, 2025, pp. 24827–24837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https://doi.org/10.48550/arXiv.2202.05786)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a RAG framework designed for visually rich documents containing charts, tables, and mixed formats such as PDF and PPTX. It focuses on retrieving relevant visual document content for question answering.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diverse document formats and visually complex content remains challenging.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F636C9E8-CF45-ED94-7FF6-082DD12F5920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C800D-27BD-FB17-0E5F-6D30A784F7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7475690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3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713596" y="944528"/>
            <a:ext cx="9148158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document analysis system for corporate sustainability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and understand text, tables, charts, figures, and document layout from long sustainability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a domain-specific multimodal Knowledge Graph containing KPIs, targets, values, reporting periods, business segments, regions, and evidence.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related sustainability information across different pages and report sections.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hybrid multimodal and graph-based retrieval for finding relevant evidence.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multi-step, numerical, and temporal reasoning over sustainability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trends and target-vs-actual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source-level evidence and provenance for every important analytical result.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the results through a structured dashboard, knowledge graph, and evidence explorer, without using a chatbot.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 / Block Diagram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44B6DE-EF3A-B36B-4B1F-AB348FF01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2"/>
          <a:stretch>
            <a:fillRect/>
          </a:stretch>
        </p:blipFill>
        <p:spPr>
          <a:xfrm>
            <a:off x="3126658" y="639763"/>
            <a:ext cx="5535561" cy="58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9BCFF0-C1AD-0B47-3697-313FD55D9DB1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20053-6AA2-F37C-6B5C-908F893FA0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1C5C7A7-40EA-BEA0-C6FE-6917C9430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239" y="639763"/>
            <a:ext cx="6619513" cy="590346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1445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Mentor’s Suggestion  (if any)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9825" y="1303973"/>
            <a:ext cx="7159625" cy="34994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Mentor’s Suggestion  (if any) </a:t>
            </a: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comment: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comment: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comment: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830" y="1634014"/>
            <a:ext cx="8926441" cy="32280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Knowledge Graph-based representation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sustainability entities, KPIs, emission scopes, values, pages, and relationships instead of treating the PDF as isolated text chunks.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Evidence-grounded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confidence scores and source-page traceability so extracted information can be inspected against the original document.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reasoning-aware sustainability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existing graph can be extended to support KPI–target relationships, cross-page reasoning, consistency verification, and longitudinal comparison across reports.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(till date)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8669" y="1818212"/>
            <a:ext cx="9378724" cy="3388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Sustainability Report Management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uploading corporate ESG/sustainability PDF reports and tracking company, fiscal year, page count, entities, KPIs, targets, and processing status.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the Sustainability Analytics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KPI extraction, target/entity/relationship statistics, KPI category breakdown, extraction-confidence visualization, and CSV export.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the MMKG and Evidence Explorer modules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entity–relationship visualization and source traceability, allowing extracted entities to be linked back to their originating report pages.</a:t>
            </a:r>
          </a:p>
          <a:p>
            <a:pPr marL="342900" lvl="0" indent="-342900" fontAlgn="auto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0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 (till date)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1684" y="1175048"/>
            <a:ext cx="9524019" cy="4401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sz="2200" b="1" dirty="0">
                <a:latin typeface="Times New Roman" panose="02020603050405020304" pitchFamily="18" charset="0"/>
              </a:rPr>
              <a:t>Results &amp; Discussion (Till Date)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report understanding of text, tables, charts, and figures.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Knowledge Graph linking KPIs, targets, values, periods, and evidence.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Cross-page retrieval and reasoning over distributed report information.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KPI, trend, and target-vs-actual analysis.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Cross-year comparison of sustainability performance and targets.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inconsistencies across text, tables, and charts.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Source-traceable results linked to the original page or document region.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and Knowledge Graph for clear sustainability analysis.</a:t>
            </a:r>
          </a:p>
          <a:p>
            <a:pPr lvl="0" eaLnBrk="0" hangingPunct="0"/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66" name="Title 1"/>
          <p:cNvSpPr txBox="1"/>
          <p:nvPr/>
        </p:nvSpPr>
        <p:spPr>
          <a:xfrm>
            <a:off x="2293938" y="20542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244" name="Table 10243"/>
          <p:cNvGraphicFramePr/>
          <p:nvPr>
            <p:extLst>
              <p:ext uri="{D42A27DB-BD31-4B8C-83A1-F6EECF244321}">
                <p14:modId xmlns:p14="http://schemas.microsoft.com/office/powerpoint/2010/main" val="3066148311"/>
              </p:ext>
            </p:extLst>
          </p:nvPr>
        </p:nvGraphicFramePr>
        <p:xfrm>
          <a:off x="127000" y="639763"/>
          <a:ext cx="12065000" cy="587295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870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2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29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 Months  Activities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JUN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JULY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AUG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SEPT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OCT</a:t>
                      </a:r>
                      <a:r>
                        <a:rPr sz="1600" b="1"/>
                        <a:t>’</a:t>
                      </a:r>
                      <a:r>
                        <a:rPr lang="en-US" sz="1600" b="1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6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Literature Reviews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27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Component Identification &amp; Selection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28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Designing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i="0" u="non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Fabrication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95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/>
                        <a:t>Experimental Analysis</a:t>
                      </a:r>
                      <a:endParaRPr lang="en-IN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Testing and Debugging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Preparation of Project Report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7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Thesis and Poster Submission 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– Plan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1091851"/>
            <a:ext cx="11463654" cy="39703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Han, H., Wang, Y., Shomer, H., Guo, K., Ding, J., Lei, Y., Halappanavar, M., Rossi, R. A., Mukherjee, S., Tang, X., He, Q., Hua, Z., Long, B., Zhao, T., Shah, N., Javari, A., Xia, Y., &amp; Tang, J. (2024). Retrieval-Augmented Generation with Graphs (GraphRAG).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https://doi.org/10.48550/arxiv.2501.00309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Cited by: 368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He, X., Wang, Y., Fan, W., Li, Q., Zhang, Q., Chang, Y., &amp; Wang, X. (2026). HVM-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Holistic-View Multimodal Graph Retrieval-Augmented Generation on Complex Document.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https://doi.org/10.48550/arXiv.2607.24861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Mei, L., Mo, S., Yang, Z., &amp; Chen, C. (2025). A Survey of Multimodal Retrieval-Augmented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https://doi.org/10.48550/arxiv.2504.08748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by: 112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Mortaheb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Khojastepour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A., Chakradhar, S. T.,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Ulukus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(2025). Re-ranking the Context for Multimodal Retrieval 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https://doi.org/10.48550/arxiv.2501.04695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by: 25</a:t>
            </a: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4CC84C-6665-D7EF-94BE-D23964D048A6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6ECDA-97D1-A2F6-F3E1-44082A876E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DDA32F-6E86-211E-B845-0FF4FC12D947}"/>
              </a:ext>
            </a:extLst>
          </p:cNvPr>
          <p:cNvSpPr txBox="1"/>
          <p:nvPr/>
        </p:nvSpPr>
        <p:spPr>
          <a:xfrm>
            <a:off x="800100" y="1319645"/>
            <a:ext cx="104948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Chen, Z., Zhang, Y., Fang, Y., Geng, Y., Guo, L., Chen, X., Li, Q., Zhang, W., Chen, J., Zhu, Y., Li, J., Liu, X., Pan, J. Z., Zhang, N., &amp; Chen, H.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Graphs Meet Multi-Modal Learning: A Comprehensive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https://doi.org/10.48550/arXiv.2402.05391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Cited by 27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Zhu, X., Li, Z., Wang, X., Jiang, X., Sun, P., Wang, X., Xiao, Y., &amp; Yuan, N. J.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Knowledge Graph Construction and Application: A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https://arxiv.org/abs/2202.11883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Cited by 149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Y., Li, H., Garcia-Duran, A., Niepert, M., Onoro-Rubio, D., &amp; Rosenblum, D. S. (2019).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MMKG: Multi-Modal Knowledge 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https://doi.org/10.48550/arXiv.1903.05485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284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Peng, J., Hu, X., Huang, W., &amp; Yang, J.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Multi-Modal Knowledge Graph: A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Big Data Research, 32, 100380.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https://doi.org/10.1016/j.bdr.2023.100380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25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3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431E7DC-1860-2F50-A998-849FEBE3FE7B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AD091-0F40-F611-9A2B-032E3419BD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7E6477-94CB-0CE7-EBFA-BB5EF12A340A}"/>
              </a:ext>
            </a:extLst>
          </p:cNvPr>
          <p:cNvSpPr txBox="1"/>
          <p:nvPr/>
        </p:nvSpPr>
        <p:spPr>
          <a:xfrm>
            <a:off x="633845" y="1194955"/>
            <a:ext cx="10564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Han, H., Wang, Y., Shomer, H., Guo, K., Ding, J., Lei, Y., Halappanavar, M., Rossi, R. A., Mukherjee, S., Tang, X., He, Q., Hua, Z., Long, B., Zhao, T., Shah, N., Javari, A., Xia, Y., &amp; Tang, J.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with Graphs (GraphRAG)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https://doi.org/10.48550/arXiv.2501.00309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Hsiao, C.-H., Wang, Y.-C., Lin, T.-S., Yeh, Y.-R., &amp; Chen, C.-S.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MegaRAG: Multimodal Knowledge Graph-Based Retrieval 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64th Annual Meeting of the Association for Computational Linguistics (ACL 2026), 48031–48059.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https://doi.org/10.18653/v1/2026.acl-long.2218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H., Seo, J., Mun, J., Park, H., Byeon, W., Kim, S. J., Im, H., Lee, J., &amp; Kim, S.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M³KG-RAG: Multi-hop Multimodal Knowledge Graph-enhanced Retrieval-Augmented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Conference on Computer Vision and Pattern Recognition (CVPR 2026), 14968–14978.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CVPR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Dai, S., Huang, Q., You, X., &amp; Yu, J.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MG²-RAG: Multi-Granularity Graph for Multimodal Retrieval-Augmented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https://arxiv.org/abs/2604.04969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13</a:t>
            </a:r>
          </a:p>
        </p:txBody>
      </p:sp>
    </p:spTree>
    <p:extLst>
      <p:ext uri="{BB962C8B-B14F-4D97-AF65-F5344CB8AC3E}">
        <p14:creationId xmlns:p14="http://schemas.microsoft.com/office/powerpoint/2010/main" val="4113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49B7F8-92D8-3D5F-8D15-BB62E6168165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CAB282-DCB2-9B48-86C0-29E2E1FEE6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F9492-0770-7C37-47B4-41CF71D949AF}"/>
              </a:ext>
            </a:extLst>
          </p:cNvPr>
          <p:cNvSpPr txBox="1"/>
          <p:nvPr/>
        </p:nvSpPr>
        <p:spPr>
          <a:xfrm>
            <a:off x="737755" y="1589809"/>
            <a:ext cx="105883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Wan, X., &amp; Yu, H. (2025).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MMGraphRAG: Bridging Vision and Language with Interpretable Multimodal Knowledge 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https://arxiv.org/abs/2507.20804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J., Meng, S., Gao, Y., Mao, S., Cai, P., Yan, G., Chen, Y., Bian, Z., Wang, D., &amp; Shi, B. (2025).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Vision to Language: Annotation-Free Multimodal Knowledge Graph Construction for Enhanced LLMs Reasoning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International Conference on Computer Vision (ICCV 2025), 981–992.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ICCV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17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J., Fan, D., Ji, C., Zha, D., &amp; Tan, Q.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GraphVLM: Benchmarking Vision Language Models for Multimodal Graph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Conference on Computer Vision and Pattern Recognition (CVPR 2026), 9491–9500.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CVPR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</a:t>
            </a:r>
          </a:p>
        </p:txBody>
      </p:sp>
    </p:spTree>
    <p:extLst>
      <p:ext uri="{BB962C8B-B14F-4D97-AF65-F5344CB8AC3E}">
        <p14:creationId xmlns:p14="http://schemas.microsoft.com/office/powerpoint/2010/main" val="248788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2485</Words>
  <Application>Microsoft Office PowerPoint</Application>
  <PresentationFormat>Widescreen</PresentationFormat>
  <Paragraphs>189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 Black</vt:lpstr>
      <vt:lpstr>Bodoni MT</vt:lpstr>
      <vt:lpstr>Calibri</vt:lpstr>
      <vt:lpstr>Calibri Light</vt:lpstr>
      <vt:lpstr>Castellar</vt:lpstr>
      <vt:lpstr>Times New Roman</vt:lpstr>
      <vt:lpstr>Wingdings 2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Rinku Meshram</cp:lastModifiedBy>
  <cp:revision>128</cp:revision>
  <cp:lastPrinted>2018-01-20T12:20:00Z</cp:lastPrinted>
  <dcterms:created xsi:type="dcterms:W3CDTF">2018-01-20T09:03:00Z</dcterms:created>
  <dcterms:modified xsi:type="dcterms:W3CDTF">2026-09-20T18:48:17Z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